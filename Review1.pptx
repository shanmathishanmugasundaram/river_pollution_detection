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8" r:id="rId8"/>
    <p:sldId id="270" r:id="rId9"/>
    <p:sldId id="269" r:id="rId10"/>
    <p:sldId id="262" r:id="rId11"/>
    <p:sldId id="267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78" d="100"/>
          <a:sy n="78" d="100"/>
        </p:scale>
        <p:origin x="162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6704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3025"/>
            <a:ext cx="1476375" cy="138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495800"/>
            <a:ext cx="1476375" cy="1838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175" y="405828"/>
            <a:ext cx="4691380" cy="72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05098" y="3581400"/>
            <a:ext cx="5540755" cy="28501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Date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25.06.2026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Number : </a:t>
            </a:r>
            <a:r>
              <a:rPr lang="en-IN" sz="2000" spc="-10" dirty="0">
                <a:latin typeface="Times New Roman"/>
                <a:cs typeface="Times New Roman"/>
              </a:rPr>
              <a:t>D02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Guide : </a:t>
            </a:r>
            <a:r>
              <a:rPr lang="en-IN" sz="2000" spc="-10" dirty="0">
                <a:latin typeface="Times New Roman"/>
                <a:cs typeface="Times New Roman"/>
              </a:rPr>
              <a:t>Dr. R. Thamilselvan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Team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Members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Shanmathi</a:t>
            </a:r>
            <a:r>
              <a:rPr lang="en-IN" sz="2000" spc="-10" dirty="0">
                <a:latin typeface="Times New Roman"/>
                <a:cs typeface="Times New Roman"/>
              </a:rPr>
              <a:t> S (23CSR198)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</a:t>
            </a:r>
            <a:r>
              <a:rPr lang="en-IN" sz="2000" spc="-10" dirty="0" err="1">
                <a:latin typeface="Times New Roman"/>
                <a:cs typeface="Times New Roman"/>
              </a:rPr>
              <a:t>Suhash</a:t>
            </a:r>
            <a:r>
              <a:rPr lang="en-IN" sz="2000" spc="-10" dirty="0">
                <a:latin typeface="Times New Roman"/>
                <a:cs typeface="Times New Roman"/>
              </a:rPr>
              <a:t> V (23CSR220)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Varun Prasath M A (23CSR235)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35B09-C5FD-0EC1-E8EB-46316CB0500E}"/>
              </a:ext>
            </a:extLst>
          </p:cNvPr>
          <p:cNvSpPr txBox="1"/>
          <p:nvPr/>
        </p:nvSpPr>
        <p:spPr>
          <a:xfrm>
            <a:off x="3600787" y="489466"/>
            <a:ext cx="554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 PHASE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C564B-E500-C992-A42C-A5E97DD74060}"/>
              </a:ext>
            </a:extLst>
          </p:cNvPr>
          <p:cNvSpPr txBox="1"/>
          <p:nvPr/>
        </p:nvSpPr>
        <p:spPr>
          <a:xfrm>
            <a:off x="3271743" y="1614698"/>
            <a:ext cx="54864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River Pollution Forecasting and Early Warning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673639"/>
            <a:ext cx="4572000" cy="602023"/>
          </a:xfrm>
          <a:prstGeom prst="rect">
            <a:avLst/>
          </a:prstGeom>
        </p:spPr>
        <p:txBody>
          <a:bodyPr vert="horz" wrap="square" lIns="0" tIns="1999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600" spc="-20" dirty="0"/>
              <a:t>PROBLEM</a:t>
            </a:r>
            <a:r>
              <a:rPr lang="en-IN" sz="2600" spc="-200" dirty="0"/>
              <a:t> </a:t>
            </a:r>
            <a:r>
              <a:rPr lang="en-IN" sz="2600" spc="-10" dirty="0"/>
              <a:t>STATEMENT</a:t>
            </a:r>
            <a:endParaRPr sz="2600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BB05F-401C-83E2-0D48-AE137FF67D58}"/>
              </a:ext>
            </a:extLst>
          </p:cNvPr>
          <p:cNvSpPr txBox="1"/>
          <p:nvPr/>
        </p:nvSpPr>
        <p:spPr>
          <a:xfrm>
            <a:off x="991830" y="1600200"/>
            <a:ext cx="4343400" cy="436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Tx/>
              <a:buSzPts val="1900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Ganga River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flows for approximately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2,525 km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Indian states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continuously affected by pollution from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untreated sewage, industrial effluents, agricultural runoff, and over 3,700 grossly polluting industries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basin. Existing water quality monitoring systems only measure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river and cannot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water quality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for authorities to take preventive actions.</a:t>
            </a:r>
            <a:endParaRPr lang="en-IN" sz="1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How India's leather industry is polluting a major river basin | Dialogue Earth">
            <a:extLst>
              <a:ext uri="{FF2B5EF4-FFF2-40B4-BE49-F238E27FC236}">
                <a16:creationId xmlns:a16="http://schemas.microsoft.com/office/drawing/2014/main" id="{79FBF81B-99EC-5A63-EEF2-EDF435C2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52600"/>
            <a:ext cx="3429001" cy="38415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53016" y="174809"/>
            <a:ext cx="4691380" cy="622477"/>
          </a:xfrm>
          <a:prstGeom prst="rect">
            <a:avLst/>
          </a:prstGeom>
        </p:spPr>
        <p:txBody>
          <a:bodyPr vert="horz" wrap="square" lIns="0" tIns="128777" rIns="0" bIns="0" rtlCol="0">
            <a:spAutoFit/>
          </a:bodyPr>
          <a:lstStyle/>
          <a:p>
            <a:pPr marL="1174750">
              <a:lnSpc>
                <a:spcPct val="100000"/>
              </a:lnSpc>
              <a:spcBef>
                <a:spcPts val="125"/>
              </a:spcBef>
            </a:pPr>
            <a:r>
              <a:rPr lang="en-IN" dirty="0"/>
              <a:t>Objectives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00449-3AE3-7462-1924-302801736ABB}"/>
              </a:ext>
            </a:extLst>
          </p:cNvPr>
          <p:cNvSpPr txBox="1"/>
          <p:nvPr/>
        </p:nvSpPr>
        <p:spPr>
          <a:xfrm>
            <a:off x="2895600" y="972095"/>
            <a:ext cx="4234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of the Proposed Work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01885-1AFD-716C-2126-1D99335C7C35}"/>
              </a:ext>
            </a:extLst>
          </p:cNvPr>
          <p:cNvSpPr txBox="1"/>
          <p:nvPr/>
        </p:nvSpPr>
        <p:spPr>
          <a:xfrm>
            <a:off x="982980" y="1905000"/>
            <a:ext cx="7178039" cy="318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iTransformer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deep learning framework for forecasting future river water quality using historical monitoring station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pollution hotspots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rank multiple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stations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predicted pollution levels.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trends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classify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risk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proactive river water quality management.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 intelligent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that supports timely environmental monitoring and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2000"/>
            <a:ext cx="4691380" cy="492443"/>
          </a:xfrm>
        </p:spPr>
        <p:txBody>
          <a:bodyPr/>
          <a:lstStyle/>
          <a:p>
            <a:r>
              <a:rPr lang="en-IN" dirty="0"/>
              <a:t>Literature Survey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94E61F-5ACA-81C4-CB1E-293F80D9A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143700"/>
              </p:ext>
            </p:extLst>
          </p:nvPr>
        </p:nvGraphicFramePr>
        <p:xfrm>
          <a:off x="762000" y="1600200"/>
          <a:ext cx="8001000" cy="3831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71427437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46435026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95213066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488653889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FEATURE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86382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 Water Quality Prediction With Transformer-Based Spatial-Temporal Graph Fusion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Multi-Horizon Dissolved Oxygen Forecasting in River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Approach of Deep Autoregression and Bidirectional LSTM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179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Jing Bi, Ziqi Wang, Haitao Yuan, Xiangxi Wu, Renren 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J. Ali, A. A. Ahmed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Narmadha, Mythily M., G.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Gifta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Jerith, Sweety Julia,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3758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River Water Quality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River Lee Water Quality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River Water Quality Time-Series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6329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LSTM-based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Informer, TFT, LSTM,GRU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DAFA-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47518"/>
                  </a:ext>
                </a:extLst>
              </a:tr>
              <a:tr h="859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</a:t>
                      </a:r>
                      <a:b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Quality / DO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Dissolved Oxygen Forecasting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River Water Quality Forecasting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047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54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AE49-49A9-86DA-CCD4-BC0A4F47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457200"/>
            <a:ext cx="2667000" cy="492443"/>
          </a:xfrm>
        </p:spPr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1AA0C-B5CA-B3E7-BCAA-1EAFB8B4D976}"/>
              </a:ext>
            </a:extLst>
          </p:cNvPr>
          <p:cNvSpPr txBox="1"/>
          <p:nvPr/>
        </p:nvSpPr>
        <p:spPr>
          <a:xfrm>
            <a:off x="1181100" y="1619530"/>
            <a:ext cx="7467600" cy="361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primarily focus on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water quality parameters or WQI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do not identify future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 hotspots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monitoring stations.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models provide prediction results but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pollution trend analysis and multi-station priority ranking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important for efficient monitoring.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approaches do not include an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warning mechanism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alert authorities before pollution reaches critical levels.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provide limited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decision-support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pollution risk assessment and early warning alerts.</a:t>
            </a:r>
          </a:p>
        </p:txBody>
      </p:sp>
    </p:spTree>
    <p:extLst>
      <p:ext uri="{BB962C8B-B14F-4D97-AF65-F5344CB8AC3E}">
        <p14:creationId xmlns:p14="http://schemas.microsoft.com/office/powerpoint/2010/main" val="86709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0800" y="152400"/>
            <a:ext cx="37080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Design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70A7A-708E-AB50-F3AE-EBB0CFAC3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38200"/>
            <a:ext cx="7788183" cy="535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2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4A4429-7604-0140-CEC0-3B62207B7D4F}"/>
              </a:ext>
            </a:extLst>
          </p:cNvPr>
          <p:cNvSpPr txBox="1"/>
          <p:nvPr/>
        </p:nvSpPr>
        <p:spPr>
          <a:xfrm>
            <a:off x="2819400" y="1524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39489-9102-DF63-D179-26FE7CDC06B1}"/>
              </a:ext>
            </a:extLst>
          </p:cNvPr>
          <p:cNvSpPr txBox="1"/>
          <p:nvPr/>
        </p:nvSpPr>
        <p:spPr>
          <a:xfrm>
            <a:off x="1066800" y="990600"/>
            <a:ext cx="7391400" cy="466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historical Ganga River water quality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the dataset (missing values, BDL handling, scaling).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12-month time-series sequences for each monitoring station.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 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iTransformer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 to predict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DO, pH, and BOD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Index (WQI)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predicted parameters.</a:t>
            </a:r>
          </a:p>
          <a:p>
            <a:pPr>
              <a:lnSpc>
                <a:spcPct val="150000"/>
              </a:lnSpc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iTransformer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multivariate time-series forecasting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river water quality.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prediction of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DO, pH, and BOD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a single parameter.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WQI computation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predicted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34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FFA3-AE31-BC1A-6BF6-F77079BC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76200"/>
            <a:ext cx="4691380" cy="492443"/>
          </a:xfrm>
        </p:spPr>
        <p:txBody>
          <a:bodyPr/>
          <a:lstStyle/>
          <a:p>
            <a:r>
              <a:rPr lang="en-US" dirty="0"/>
              <a:t>Modules of the project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63345-1489-1633-A86B-62ECEADE8FBC}"/>
              </a:ext>
            </a:extLst>
          </p:cNvPr>
          <p:cNvSpPr txBox="1"/>
          <p:nvPr/>
        </p:nvSpPr>
        <p:spPr>
          <a:xfrm>
            <a:off x="3048000" y="685800"/>
            <a:ext cx="4876800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Ganga River Dataset (2014–2025</a:t>
            </a:r>
            <a:r>
              <a:rPr lang="en-IN" sz="1500" dirty="0"/>
              <a:t>)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Cleaning, Missing Value Handling)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Generation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12-Month Time-Series Windows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iTransformer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→ Self-Attention → Prediction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• RMSE • R²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WQI Calculation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│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Forecasting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46426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D7FBE-2BA2-D368-60E1-0A8FBA9BD2E2}"/>
              </a:ext>
            </a:extLst>
          </p:cNvPr>
          <p:cNvSpPr txBox="1"/>
          <p:nvPr/>
        </p:nvSpPr>
        <p:spPr>
          <a:xfrm>
            <a:off x="2362200" y="23116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8345B-E6F1-5C63-D160-A09041CC16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" t="-2783" r="5822" b="2783"/>
          <a:stretch>
            <a:fillRect/>
          </a:stretch>
        </p:blipFill>
        <p:spPr>
          <a:xfrm>
            <a:off x="690034" y="1219200"/>
            <a:ext cx="4191000" cy="2372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0EFA21-5CC8-1004-3AFE-F7F3AD1D92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33"/>
          <a:stretch>
            <a:fillRect/>
          </a:stretch>
        </p:blipFill>
        <p:spPr>
          <a:xfrm>
            <a:off x="5015859" y="1281440"/>
            <a:ext cx="3755608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ACC96-499E-EB86-AAC1-D981F8C27D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041159"/>
            <a:ext cx="3894667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0E9CF-4CE5-3CF1-3A9E-F944820A01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280" y="4041159"/>
            <a:ext cx="3894667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7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228600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eference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1143000"/>
            <a:ext cx="7620000" cy="5146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1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Fusion Transformer: A Deep Learning Approach for </a:t>
            </a:r>
            <a:r>
              <a:rPr lang="en-IN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Forecasting River Water Quality Index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Systems and Applications in Engineering (IJISAE)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2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Advancing River Water Quality Prediction: A Comparative Assessment of Deep Learning Models for Dissolved Oxygen Forecasting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River Basin Management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3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River Water Quality Prediction: A Hybrid Approach of Deep Autoregression and Bidirectional LSTM Networks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Systems Engineering and Management (JISEM)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>
              <a:lnSpc>
                <a:spcPct val="15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4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32766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 </a:t>
            </a:r>
            <a:r>
              <a:rPr lang="en-IN" sz="4800" b="1" dirty="0"/>
              <a:t>Thank You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72723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1877</TotalTime>
  <Words>693</Words>
  <Application>Microsoft Office PowerPoint</Application>
  <PresentationFormat>On-screen Show 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Office Theme</vt:lpstr>
      <vt:lpstr>PowerPoint Presentation</vt:lpstr>
      <vt:lpstr>PROBLEM STATEMENT</vt:lpstr>
      <vt:lpstr>Objectives</vt:lpstr>
      <vt:lpstr>Literature Survey </vt:lpstr>
      <vt:lpstr>Research Gap</vt:lpstr>
      <vt:lpstr>PowerPoint Presentation</vt:lpstr>
      <vt:lpstr>PowerPoint Presentation</vt:lpstr>
      <vt:lpstr>Modules of the project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SHANMATHI S</cp:lastModifiedBy>
  <cp:revision>23</cp:revision>
  <dcterms:created xsi:type="dcterms:W3CDTF">2026-04-28T09:54:59Z</dcterms:created>
  <dcterms:modified xsi:type="dcterms:W3CDTF">2026-07-19T17:46:32Z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2025-05-21T00:00:00Z</vt:filetime>
  </property>
  <property fmtid="{D5CDD505-2E9C-101B-9397-08002B2CF9AE}" pid="4" name="LastSaved">
    <vt:filetime>2026-04-28T00:00:00Z</vt:filetime>
  </property>
</Properties>
</file>